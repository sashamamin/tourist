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Sora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758309" y="2553176"/>
            <a:ext cx="12824936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CityCompass: Ваш Мобильный Гид по Городу</a:t>
            </a:r>
            <a:endParaRPr sz="4450" b="0" i="0" u="none" strike="noStrike" cap="none"/>
          </a:p>
        </p:txBody>
      </p:sp>
      <p:sp>
        <p:nvSpPr>
          <p:cNvPr id="49" name="Google Shape;49;p11"/>
          <p:cNvSpPr/>
          <p:nvPr/>
        </p:nvSpPr>
        <p:spPr>
          <a:xfrm>
            <a:off x="758309" y="3699153"/>
            <a:ext cx="13113782" cy="104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Откройте для себя город по-новому с CityCompass — вашим надежным спутником в мире городских приключений. Это инновационное мобильное приложение, разработанное на платформе Android с использованием Kivy/KivyMD, предлагает удобный и интуитивно понятный способ изучения городских достопримечательностей.</a:t>
            </a:r>
            <a:endParaRPr sz="1700" b="0" i="0" u="none" strike="noStrike" cap="none"/>
          </a:p>
        </p:txBody>
      </p:sp>
      <p:sp>
        <p:nvSpPr>
          <p:cNvPr id="50" name="Google Shape;50;p11"/>
          <p:cNvSpPr/>
          <p:nvPr/>
        </p:nvSpPr>
        <p:spPr>
          <a:xfrm>
            <a:off x="758309" y="4983004"/>
            <a:ext cx="13113782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endParaRPr sz="1700" b="0" i="0" u="none" strike="noStrike" cap="none" dirty="0"/>
          </a:p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endParaRPr sz="1700" b="0" i="0" u="none" strike="noStrike" cap="none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C94561-AEB3-322F-5833-BB04124A9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66" y="7423705"/>
            <a:ext cx="4105848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758309" y="1359932"/>
            <a:ext cx="13113782" cy="142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Проблема и Наша Цель: Навигация в Городских Джунглях</a:t>
            </a:r>
            <a:endParaRPr sz="4450" b="0" i="0" u="none" strike="noStrike" cap="none"/>
          </a:p>
        </p:txBody>
      </p:sp>
      <p:sp>
        <p:nvSpPr>
          <p:cNvPr id="57" name="Google Shape;57;p12"/>
          <p:cNvSpPr/>
          <p:nvPr/>
        </p:nvSpPr>
        <p:spPr>
          <a:xfrm>
            <a:off x="758309" y="3218617"/>
            <a:ext cx="13113782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Современные города полны сокровищ, но найти их может быть непросто. Информация разрознена, маршруты неочевидны, а выбор мест ошеломляет. CityCompass решает эту проблему.</a:t>
            </a:r>
            <a:endParaRPr sz="1700" b="0" i="0" u="none" strike="noStrike" cap="none"/>
          </a:p>
        </p:txBody>
      </p:sp>
      <p:sp>
        <p:nvSpPr>
          <p:cNvPr id="58" name="Google Shape;58;p12"/>
          <p:cNvSpPr/>
          <p:nvPr/>
        </p:nvSpPr>
        <p:spPr>
          <a:xfrm>
            <a:off x="758309" y="4155757"/>
            <a:ext cx="6448544" cy="2713792"/>
          </a:xfrm>
          <a:prstGeom prst="roundRect">
            <a:avLst>
              <a:gd name="adj" fmla="val 5391"/>
            </a:avLst>
          </a:prstGeom>
          <a:solidFill>
            <a:srgbClr val="FFFFFF"/>
          </a:solidFill>
          <a:ln w="30475" cap="flat" cmpd="sng">
            <a:solidFill>
              <a:srgbClr val="DFB8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2"/>
          <p:cNvSpPr/>
          <p:nvPr/>
        </p:nvSpPr>
        <p:spPr>
          <a:xfrm>
            <a:off x="727829" y="4155757"/>
            <a:ext cx="121920" cy="2713792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2"/>
          <p:cNvSpPr/>
          <p:nvPr/>
        </p:nvSpPr>
        <p:spPr>
          <a:xfrm>
            <a:off x="1096804" y="4402812"/>
            <a:ext cx="4868228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Проблема: Информационный Хаос</a:t>
            </a:r>
            <a:endParaRPr sz="2200" b="0" i="0" u="none" strike="noStrike" cap="none"/>
          </a:p>
        </p:txBody>
      </p:sp>
      <p:sp>
        <p:nvSpPr>
          <p:cNvPr id="61" name="Google Shape;61;p12"/>
          <p:cNvSpPr/>
          <p:nvPr/>
        </p:nvSpPr>
        <p:spPr>
          <a:xfrm>
            <a:off x="1096804" y="4888944"/>
            <a:ext cx="5862995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Туристам и жителям города часто сложно быстро найти интересные места и проложить удобные маршруты. Ценная информация разбросана по множеству веб-сайтов, картографических сервисов и отзывов, что создает неудобства и отнимает время.</a:t>
            </a:r>
            <a:endParaRPr sz="1700" b="0" i="0" u="none" strike="noStrike" cap="none"/>
          </a:p>
        </p:txBody>
      </p:sp>
      <p:sp>
        <p:nvSpPr>
          <p:cNvPr id="62" name="Google Shape;62;p12"/>
          <p:cNvSpPr/>
          <p:nvPr/>
        </p:nvSpPr>
        <p:spPr>
          <a:xfrm>
            <a:off x="7423428" y="4155757"/>
            <a:ext cx="6448663" cy="2713792"/>
          </a:xfrm>
          <a:prstGeom prst="roundRect">
            <a:avLst>
              <a:gd name="adj" fmla="val 5391"/>
            </a:avLst>
          </a:prstGeom>
          <a:solidFill>
            <a:srgbClr val="FFFFFF"/>
          </a:solidFill>
          <a:ln w="30475" cap="flat" cmpd="sng">
            <a:solidFill>
              <a:srgbClr val="DFB8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2"/>
          <p:cNvSpPr/>
          <p:nvPr/>
        </p:nvSpPr>
        <p:spPr>
          <a:xfrm>
            <a:off x="7392948" y="4155757"/>
            <a:ext cx="121920" cy="2713792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2"/>
          <p:cNvSpPr/>
          <p:nvPr/>
        </p:nvSpPr>
        <p:spPr>
          <a:xfrm>
            <a:off x="7761923" y="4402812"/>
            <a:ext cx="420290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Цель: Удобство и Доступность</a:t>
            </a:r>
            <a:endParaRPr sz="2200" b="0" i="0" u="none" strike="noStrike" cap="none"/>
          </a:p>
        </p:txBody>
      </p:sp>
      <p:sp>
        <p:nvSpPr>
          <p:cNvPr id="65" name="Google Shape;65;p12"/>
          <p:cNvSpPr/>
          <p:nvPr/>
        </p:nvSpPr>
        <p:spPr>
          <a:xfrm>
            <a:off x="7761923" y="4888944"/>
            <a:ext cx="5863114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CityCompass стремится предоставить простой и удобный инструмент для: просмотра интересных мест, прохождения готовых экскурсий и сохранения избранных локаций. Все необходимое для исследования города в одном приложении.</a:t>
            </a:r>
            <a:endParaRPr sz="1700" b="0" i="0" u="none" strike="noStrike" cap="none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D8EE31-6E99-B934-B618-1843E7CC6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992" y="7553231"/>
            <a:ext cx="4105848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>
            <a:off x="758309" y="1449110"/>
            <a:ext cx="10820519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CityCompass: Ваш Персональный Гид</a:t>
            </a:r>
            <a:endParaRPr sz="4450" b="0" i="0" u="none" strike="noStrike" cap="none"/>
          </a:p>
        </p:txBody>
      </p:sp>
      <p:sp>
        <p:nvSpPr>
          <p:cNvPr id="72" name="Google Shape;72;p13"/>
          <p:cNvSpPr/>
          <p:nvPr/>
        </p:nvSpPr>
        <p:spPr>
          <a:xfrm>
            <a:off x="758309" y="2595086"/>
            <a:ext cx="13113782" cy="104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CityCompass — это больше, чем просто приложение; это ваш личный проводник по городу, всегда готовый предложить что-то новое и интересное. Оно разработано для максимального удобства как обычных пользователей, так и администраторов контента.</a:t>
            </a:r>
            <a:endParaRPr sz="1700" b="0" i="0" u="none" strike="noStrike" cap="none"/>
          </a:p>
        </p:txBody>
      </p:sp>
      <p:sp>
        <p:nvSpPr>
          <p:cNvPr id="73" name="Google Shape;73;p13"/>
          <p:cNvSpPr/>
          <p:nvPr/>
        </p:nvSpPr>
        <p:spPr>
          <a:xfrm>
            <a:off x="758309" y="4095512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Для Пользователя:</a:t>
            </a:r>
            <a:endParaRPr sz="2200" b="0" i="0" u="none" strike="noStrike" cap="none"/>
          </a:p>
        </p:txBody>
      </p:sp>
      <p:sp>
        <p:nvSpPr>
          <p:cNvPr id="74" name="Google Shape;74;p13"/>
          <p:cNvSpPr/>
          <p:nvPr/>
        </p:nvSpPr>
        <p:spPr>
          <a:xfrm>
            <a:off x="758309" y="4668322"/>
            <a:ext cx="6292572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Char char="•"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Обширный список мест города.</a:t>
            </a:r>
            <a:endParaRPr sz="1700" b="0" i="0" u="none" strike="noStrike" cap="none"/>
          </a:p>
        </p:txBody>
      </p:sp>
      <p:sp>
        <p:nvSpPr>
          <p:cNvPr id="75" name="Google Shape;75;p13"/>
          <p:cNvSpPr/>
          <p:nvPr/>
        </p:nvSpPr>
        <p:spPr>
          <a:xfrm>
            <a:off x="758309" y="5090755"/>
            <a:ext cx="6292572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Char char="•"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Готовые экскурсии и маршруты.</a:t>
            </a:r>
            <a:endParaRPr sz="1700" b="0" i="0" u="none" strike="noStrike" cap="none"/>
          </a:p>
        </p:txBody>
      </p:sp>
      <p:sp>
        <p:nvSpPr>
          <p:cNvPr id="76" name="Google Shape;76;p13"/>
          <p:cNvSpPr/>
          <p:nvPr/>
        </p:nvSpPr>
        <p:spPr>
          <a:xfrm>
            <a:off x="758309" y="5513189"/>
            <a:ext cx="6292572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Char char="•"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Подробная информация о каждом объекте.</a:t>
            </a:r>
            <a:endParaRPr sz="1700" b="0" i="0" u="none" strike="noStrike" cap="none"/>
          </a:p>
        </p:txBody>
      </p:sp>
      <p:sp>
        <p:nvSpPr>
          <p:cNvPr id="77" name="Google Shape;77;p13"/>
          <p:cNvSpPr/>
          <p:nvPr/>
        </p:nvSpPr>
        <p:spPr>
          <a:xfrm>
            <a:off x="758309" y="5935623"/>
            <a:ext cx="6292572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Char char="•"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Функция "Избранное" для сохранения любимых мест.</a:t>
            </a:r>
            <a:endParaRPr sz="1700" b="0" i="0" u="none" strike="noStrike" cap="none"/>
          </a:p>
        </p:txBody>
      </p:sp>
      <p:sp>
        <p:nvSpPr>
          <p:cNvPr id="78" name="Google Shape;78;p13"/>
          <p:cNvSpPr/>
          <p:nvPr/>
        </p:nvSpPr>
        <p:spPr>
          <a:xfrm>
            <a:off x="758309" y="6358057"/>
            <a:ext cx="6292572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Char char="•"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Офлайн-доступ к данным (после первичной загрузки).</a:t>
            </a:r>
            <a:endParaRPr sz="1700" b="0" i="0" u="none" strike="noStrike" cap="none"/>
          </a:p>
        </p:txBody>
      </p:sp>
      <p:sp>
        <p:nvSpPr>
          <p:cNvPr id="79" name="Google Shape;79;p13"/>
          <p:cNvSpPr/>
          <p:nvPr/>
        </p:nvSpPr>
        <p:spPr>
          <a:xfrm>
            <a:off x="7587139" y="4095512"/>
            <a:ext cx="303966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Для Администратора:</a:t>
            </a:r>
            <a:endParaRPr sz="2200" b="0" i="0" u="none" strike="noStrike" cap="none"/>
          </a:p>
        </p:txBody>
      </p:sp>
      <p:sp>
        <p:nvSpPr>
          <p:cNvPr id="80" name="Google Shape;80;p13"/>
          <p:cNvSpPr/>
          <p:nvPr/>
        </p:nvSpPr>
        <p:spPr>
          <a:xfrm>
            <a:off x="7587139" y="4668322"/>
            <a:ext cx="6292572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Char char="•"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Добавление и редактирование мест, экскурсий и точек маршрута.</a:t>
            </a:r>
            <a:endParaRPr sz="1700" b="0" i="0" u="none" strike="noStrike" cap="none"/>
          </a:p>
        </p:txBody>
      </p:sp>
      <p:sp>
        <p:nvSpPr>
          <p:cNvPr id="81" name="Google Shape;81;p13"/>
          <p:cNvSpPr/>
          <p:nvPr/>
        </p:nvSpPr>
        <p:spPr>
          <a:xfrm>
            <a:off x="7587139" y="5437465"/>
            <a:ext cx="6292572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Char char="•"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Управление фотографиями (локальные файлы и URL).</a:t>
            </a:r>
            <a:endParaRPr sz="1700" b="0" i="0" u="none" strike="noStrike" cap="none"/>
          </a:p>
        </p:txBody>
      </p:sp>
      <p:sp>
        <p:nvSpPr>
          <p:cNvPr id="82" name="Google Shape;82;p13"/>
          <p:cNvSpPr/>
          <p:nvPr/>
        </p:nvSpPr>
        <p:spPr>
          <a:xfrm>
            <a:off x="7587139" y="5859899"/>
            <a:ext cx="6292572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Char char="•"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Гибкая система настройки контента.</a:t>
            </a:r>
            <a:endParaRPr sz="1700" b="0" i="0" u="none" strike="noStrike" cap="none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14AAAF-7D51-52FD-256F-F3F33DF0F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552" y="7553231"/>
            <a:ext cx="4105848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758309" y="1329690"/>
            <a:ext cx="11069717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Технологическая Основа CityCompass</a:t>
            </a:r>
            <a:endParaRPr sz="4450" b="0" i="0" u="none" strike="noStrike" cap="none"/>
          </a:p>
        </p:txBody>
      </p:sp>
      <p:sp>
        <p:nvSpPr>
          <p:cNvPr id="89" name="Google Shape;89;p14"/>
          <p:cNvSpPr/>
          <p:nvPr/>
        </p:nvSpPr>
        <p:spPr>
          <a:xfrm>
            <a:off x="758309" y="2475667"/>
            <a:ext cx="13113782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Приложение CityCompass построено на современных и гибких технологиях, обеспечивающих его стабильность, масштабируемость и кроссплатформенность.</a:t>
            </a:r>
            <a:endParaRPr sz="1700" b="0" i="0" u="none" strike="noStrike" cap="none"/>
          </a:p>
        </p:txBody>
      </p:sp>
      <p:pic>
        <p:nvPicPr>
          <p:cNvPr id="90" name="Google Shape;90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309" y="3412807"/>
            <a:ext cx="649962" cy="64996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758309" y="4333518"/>
            <a:ext cx="3466981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Python 3 &amp; Kivy/KivyMD</a:t>
            </a:r>
            <a:endParaRPr sz="2200" b="0" i="0" u="none" strike="noStrike" cap="none"/>
          </a:p>
        </p:txBody>
      </p:sp>
      <p:sp>
        <p:nvSpPr>
          <p:cNvPr id="92" name="Google Shape;92;p14"/>
          <p:cNvSpPr/>
          <p:nvPr/>
        </p:nvSpPr>
        <p:spPr>
          <a:xfrm>
            <a:off x="758309" y="4819650"/>
            <a:ext cx="4190762" cy="208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Основу составляет Python 3, а за интуитивный интерфейс и логику отвечают фреймворки Kivy и KivyMD, обеспечивающие кроссплатформенность и нативный вид.</a:t>
            </a:r>
            <a:endParaRPr sz="1700" b="0" i="0" u="none" strike="noStrike" cap="none"/>
          </a:p>
        </p:txBody>
      </p:sp>
      <p:pic>
        <p:nvPicPr>
          <p:cNvPr id="93" name="Google Shape;93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9819" y="3412807"/>
            <a:ext cx="649962" cy="64996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219819" y="4333518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SQLite &amp; JSON</a:t>
            </a:r>
            <a:endParaRPr sz="2200" b="0" i="0" u="none" strike="noStrike" cap="none"/>
          </a:p>
        </p:txBody>
      </p:sp>
      <p:sp>
        <p:nvSpPr>
          <p:cNvPr id="95" name="Google Shape;95;p14"/>
          <p:cNvSpPr/>
          <p:nvPr/>
        </p:nvSpPr>
        <p:spPr>
          <a:xfrm>
            <a:off x="5219819" y="4819650"/>
            <a:ext cx="4190762" cy="208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Для локального хранения данных используется SQLite, а начальное наполнение базы данных осуществляется с помощью JSON-файлов, что делает систему гибкой и легко настраиваемой.</a:t>
            </a:r>
            <a:endParaRPr sz="1700" b="0" i="0" u="none" strike="noStrike" cap="none"/>
          </a:p>
        </p:txBody>
      </p:sp>
      <p:pic>
        <p:nvPicPr>
          <p:cNvPr id="96" name="Google Shape;96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1329" y="3412807"/>
            <a:ext cx="649962" cy="64996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9681329" y="4333518"/>
            <a:ext cx="3122890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Android Особенности</a:t>
            </a:r>
            <a:endParaRPr sz="2200" b="0" i="0" u="none" strike="noStrike" cap="none"/>
          </a:p>
        </p:txBody>
      </p:sp>
      <p:sp>
        <p:nvSpPr>
          <p:cNvPr id="98" name="Google Shape;98;p14"/>
          <p:cNvSpPr/>
          <p:nvPr/>
        </p:nvSpPr>
        <p:spPr>
          <a:xfrm>
            <a:off x="9681329" y="4819650"/>
            <a:ext cx="4190762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Приложение оптимизировано для Android, включая работу с внешним хранилищем и загрузку изображений из сети, благодаря Buildozer и python-for-android для сборки APK.</a:t>
            </a:r>
            <a:endParaRPr sz="1700" b="0" i="0" u="none" strike="noStrike" cap="none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11C482-C554-9077-2EC7-3B86C46772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4552" y="7524138"/>
            <a:ext cx="4105848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674370" y="564594"/>
            <a:ext cx="11202472" cy="63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50"/>
              <a:buFont typeface="Sora"/>
              <a:buNone/>
            </a:pPr>
            <a:r>
              <a:rPr lang="en-US" sz="3950" b="0" i="0" u="none" strike="noStrike" cap="non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Интерфейс Пользователя: Основные Экраны</a:t>
            </a:r>
            <a:endParaRPr sz="3950" b="0" i="0" u="none" strike="noStrike" cap="none"/>
          </a:p>
        </p:txBody>
      </p:sp>
      <p:sp>
        <p:nvSpPr>
          <p:cNvPr id="105" name="Google Shape;105;p15"/>
          <p:cNvSpPr/>
          <p:nvPr/>
        </p:nvSpPr>
        <p:spPr>
          <a:xfrm>
            <a:off x="674370" y="1583650"/>
            <a:ext cx="13281660" cy="6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Sora"/>
              <a:buNone/>
            </a:pPr>
            <a:r>
              <a:rPr lang="en-US" sz="15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CityCompass разработан с учетом удобства использования, предлагая пользователю интуитивно понятные экраны для легкой навигации и доступа к информации.</a:t>
            </a:r>
            <a:endParaRPr sz="1500" b="0" i="0" u="none" strike="noStrike" cap="none"/>
          </a:p>
        </p:txBody>
      </p:sp>
      <p:sp>
        <p:nvSpPr>
          <p:cNvPr id="106" name="Google Shape;106;p15"/>
          <p:cNvSpPr/>
          <p:nvPr/>
        </p:nvSpPr>
        <p:spPr>
          <a:xfrm>
            <a:off x="674370" y="2416612"/>
            <a:ext cx="6544508" cy="2527816"/>
          </a:xfrm>
          <a:prstGeom prst="roundRect">
            <a:avLst>
              <a:gd name="adj" fmla="val 3201"/>
            </a:avLst>
          </a:prstGeom>
          <a:solidFill>
            <a:srgbClr val="F9D2D6"/>
          </a:solidFill>
          <a:ln w="9525" cap="flat" cmpd="sng">
            <a:solidFill>
              <a:srgbClr val="DFB8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874633" y="2616875"/>
            <a:ext cx="577929" cy="577929"/>
          </a:xfrm>
          <a:prstGeom prst="roundRect">
            <a:avLst>
              <a:gd name="adj" fmla="val 15820431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582" y="2775823"/>
            <a:ext cx="260033" cy="26003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874633" y="3387447"/>
            <a:ext cx="2535198" cy="31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Sora"/>
              <a:buNone/>
            </a:pPr>
            <a:r>
              <a:rPr lang="en-US" sz="195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Выбор Города</a:t>
            </a:r>
            <a:endParaRPr sz="1950" b="0" i="0" u="none" strike="noStrike" cap="none"/>
          </a:p>
        </p:txBody>
      </p:sp>
      <p:sp>
        <p:nvSpPr>
          <p:cNvPr id="110" name="Google Shape;110;p15"/>
          <p:cNvSpPr/>
          <p:nvPr/>
        </p:nvSpPr>
        <p:spPr>
          <a:xfrm>
            <a:off x="874633" y="3819763"/>
            <a:ext cx="6143982" cy="92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Sora"/>
              <a:buNone/>
            </a:pPr>
            <a:r>
              <a:rPr lang="en-US" sz="15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Начните свое путешествие с выбора активного города. Приложение автоматически загрузит весь соответствующий контент, предоставляя вам актуальную информацию.</a:t>
            </a:r>
            <a:endParaRPr sz="1500" b="0" i="0" u="none" strike="noStrike" cap="none"/>
          </a:p>
        </p:txBody>
      </p:sp>
      <p:sp>
        <p:nvSpPr>
          <p:cNvPr id="111" name="Google Shape;111;p15"/>
          <p:cNvSpPr/>
          <p:nvPr/>
        </p:nvSpPr>
        <p:spPr>
          <a:xfrm>
            <a:off x="7411522" y="2416612"/>
            <a:ext cx="6544508" cy="2527816"/>
          </a:xfrm>
          <a:prstGeom prst="roundRect">
            <a:avLst>
              <a:gd name="adj" fmla="val 3201"/>
            </a:avLst>
          </a:prstGeom>
          <a:solidFill>
            <a:srgbClr val="F9D2D6"/>
          </a:solidFill>
          <a:ln w="9525" cap="flat" cmpd="sng">
            <a:solidFill>
              <a:srgbClr val="DFB8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611785" y="2616875"/>
            <a:ext cx="577929" cy="577929"/>
          </a:xfrm>
          <a:prstGeom prst="roundRect">
            <a:avLst>
              <a:gd name="adj" fmla="val 15820431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0733" y="2775823"/>
            <a:ext cx="260033" cy="26003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7611785" y="3387447"/>
            <a:ext cx="2535198" cy="31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Sora"/>
              <a:buNone/>
            </a:pPr>
            <a:r>
              <a:rPr lang="en-US" sz="195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Главный Экран</a:t>
            </a:r>
            <a:endParaRPr sz="1950" b="0" i="0" u="none" strike="noStrike" cap="none"/>
          </a:p>
        </p:txBody>
      </p:sp>
      <p:sp>
        <p:nvSpPr>
          <p:cNvPr id="115" name="Google Shape;115;p15"/>
          <p:cNvSpPr/>
          <p:nvPr/>
        </p:nvSpPr>
        <p:spPr>
          <a:xfrm>
            <a:off x="7611785" y="3819763"/>
            <a:ext cx="6143982" cy="92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Sora"/>
              <a:buNone/>
            </a:pPr>
            <a:r>
              <a:rPr lang="en-US" sz="15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Главный экран с нижней навигацией обеспечивает быстрый доступ к ключевым разделам: Карта, Места, Избранное, Маршруты/Экскурсии и Профиль.</a:t>
            </a:r>
            <a:endParaRPr sz="1500" b="0" i="0" u="none" strike="noStrike" cap="none"/>
          </a:p>
        </p:txBody>
      </p:sp>
      <p:sp>
        <p:nvSpPr>
          <p:cNvPr id="116" name="Google Shape;116;p15"/>
          <p:cNvSpPr/>
          <p:nvPr/>
        </p:nvSpPr>
        <p:spPr>
          <a:xfrm>
            <a:off x="674370" y="5137071"/>
            <a:ext cx="6544508" cy="2527816"/>
          </a:xfrm>
          <a:prstGeom prst="roundRect">
            <a:avLst>
              <a:gd name="adj" fmla="val 3201"/>
            </a:avLst>
          </a:prstGeom>
          <a:solidFill>
            <a:srgbClr val="F9D2D6"/>
          </a:solidFill>
          <a:ln w="9525" cap="flat" cmpd="sng">
            <a:solidFill>
              <a:srgbClr val="DFB8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874633" y="5337334"/>
            <a:ext cx="577929" cy="577929"/>
          </a:xfrm>
          <a:prstGeom prst="roundRect">
            <a:avLst>
              <a:gd name="adj" fmla="val 15820431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3582" y="5496282"/>
            <a:ext cx="260033" cy="26003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874633" y="6107906"/>
            <a:ext cx="2535198" cy="31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Sora"/>
              <a:buNone/>
            </a:pPr>
            <a:r>
              <a:rPr lang="en-US" sz="195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Список Мест</a:t>
            </a:r>
            <a:endParaRPr sz="1950" b="0" i="0" u="none" strike="noStrike" cap="none"/>
          </a:p>
        </p:txBody>
      </p:sp>
      <p:sp>
        <p:nvSpPr>
          <p:cNvPr id="120" name="Google Shape;120;p15"/>
          <p:cNvSpPr/>
          <p:nvPr/>
        </p:nvSpPr>
        <p:spPr>
          <a:xfrm>
            <a:off x="874633" y="6540222"/>
            <a:ext cx="6143982" cy="92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Sora"/>
              <a:buNone/>
            </a:pPr>
            <a:r>
              <a:rPr lang="en-US" sz="15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Просматривайте места с удобными фильтрами, поиском и сортировкой. Каждая карточка места содержит название, рейтинг, описание, адрес, цену и фотографии.</a:t>
            </a:r>
            <a:endParaRPr sz="1500" b="0" i="0" u="none" strike="noStrike" cap="none"/>
          </a:p>
        </p:txBody>
      </p:sp>
      <p:sp>
        <p:nvSpPr>
          <p:cNvPr id="121" name="Google Shape;121;p15"/>
          <p:cNvSpPr/>
          <p:nvPr/>
        </p:nvSpPr>
        <p:spPr>
          <a:xfrm>
            <a:off x="7411522" y="5137071"/>
            <a:ext cx="6544508" cy="2527816"/>
          </a:xfrm>
          <a:prstGeom prst="roundRect">
            <a:avLst>
              <a:gd name="adj" fmla="val 3201"/>
            </a:avLst>
          </a:prstGeom>
          <a:solidFill>
            <a:srgbClr val="F9D2D6"/>
          </a:solidFill>
          <a:ln w="9525" cap="flat" cmpd="sng">
            <a:solidFill>
              <a:srgbClr val="DFB8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7611785" y="5337334"/>
            <a:ext cx="577929" cy="577929"/>
          </a:xfrm>
          <a:prstGeom prst="roundRect">
            <a:avLst>
              <a:gd name="adj" fmla="val 15820431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70733" y="5496282"/>
            <a:ext cx="260033" cy="26003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7611785" y="6107906"/>
            <a:ext cx="2535198" cy="31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Sora"/>
              <a:buNone/>
            </a:pPr>
            <a:r>
              <a:rPr lang="en-US" sz="195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Экран Экскурсий</a:t>
            </a:r>
            <a:endParaRPr sz="1950" b="0" i="0" u="none" strike="noStrike" cap="none"/>
          </a:p>
        </p:txBody>
      </p:sp>
      <p:sp>
        <p:nvSpPr>
          <p:cNvPr id="125" name="Google Shape;125;p15"/>
          <p:cNvSpPr/>
          <p:nvPr/>
        </p:nvSpPr>
        <p:spPr>
          <a:xfrm>
            <a:off x="7611785" y="6540222"/>
            <a:ext cx="6143982" cy="92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Sora"/>
              <a:buNone/>
            </a:pPr>
            <a:r>
              <a:rPr lang="en-US" sz="15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Исследуйте готовые маршруты с подробной информацией: обложка, рейтинг, цена, дистанция и длительность, помогая вам спланировать идеальное приключение.</a:t>
            </a:r>
            <a:endParaRPr sz="1500" b="0" i="0" u="none" strike="noStrike" cap="none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797635-257E-6528-3555-EC89BF4358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76385" y="7700958"/>
            <a:ext cx="2441807" cy="4022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711518" y="565190"/>
            <a:ext cx="10284857" cy="66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200"/>
              <a:buFont typeface="Sora"/>
              <a:buNone/>
            </a:pPr>
            <a:r>
              <a:rPr lang="en-US" sz="4200" b="0" i="0" u="none" strike="noStrike" cap="non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Админ-Панель: Управление Контентом</a:t>
            </a:r>
            <a:endParaRPr sz="4200" b="0" i="0" u="none" strike="noStrike" cap="none"/>
          </a:p>
        </p:txBody>
      </p:sp>
      <p:sp>
        <p:nvSpPr>
          <p:cNvPr id="132" name="Google Shape;132;p16"/>
          <p:cNvSpPr/>
          <p:nvPr/>
        </p:nvSpPr>
        <p:spPr>
          <a:xfrm>
            <a:off x="711518" y="1640324"/>
            <a:ext cx="13207365" cy="650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600"/>
              <a:buFont typeface="Sora"/>
              <a:buNone/>
            </a:pPr>
            <a:r>
              <a:rPr lang="en-US" sz="16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CityCompass предоставляет мощный инструментарий для администраторов, позволяющий управлять контентом непосредственно с мобильного устройства, обеспечивая актуальность информации.</a:t>
            </a:r>
            <a:endParaRPr sz="1600" b="0" i="0" u="none" strike="noStrike" cap="none"/>
          </a:p>
        </p:txBody>
      </p:sp>
      <p:sp>
        <p:nvSpPr>
          <p:cNvPr id="133" name="Google Shape;133;p16"/>
          <p:cNvSpPr/>
          <p:nvPr/>
        </p:nvSpPr>
        <p:spPr>
          <a:xfrm>
            <a:off x="711518" y="2824163"/>
            <a:ext cx="6502003" cy="2165985"/>
          </a:xfrm>
          <a:prstGeom prst="roundRect">
            <a:avLst>
              <a:gd name="adj" fmla="val 506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11518" y="2801303"/>
            <a:ext cx="6502003" cy="91440"/>
          </a:xfrm>
          <a:prstGeom prst="roundRect">
            <a:avLst>
              <a:gd name="adj" fmla="val 93378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3657600" y="2519243"/>
            <a:ext cx="609838" cy="609838"/>
          </a:xfrm>
          <a:prstGeom prst="roundRect">
            <a:avLst>
              <a:gd name="adj" fmla="val 149941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3840599" y="2671643"/>
            <a:ext cx="243840" cy="30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ora"/>
              <a:buNone/>
            </a:pPr>
            <a:r>
              <a:rPr lang="en-US" sz="19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sz="1900" b="0" i="0" u="none" strike="noStrike" cap="none"/>
          </a:p>
        </p:txBody>
      </p:sp>
      <p:sp>
        <p:nvSpPr>
          <p:cNvPr id="137" name="Google Shape;137;p16"/>
          <p:cNvSpPr/>
          <p:nvPr/>
        </p:nvSpPr>
        <p:spPr>
          <a:xfrm>
            <a:off x="937617" y="3332321"/>
            <a:ext cx="2674858" cy="33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100"/>
              <a:buFont typeface="Sora"/>
              <a:buNone/>
            </a:pPr>
            <a:r>
              <a:rPr lang="en-US" sz="21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Админ-Функции</a:t>
            </a:r>
            <a:endParaRPr sz="2100" b="0" i="0" u="none" strike="noStrike" cap="none"/>
          </a:p>
        </p:txBody>
      </p:sp>
      <p:sp>
        <p:nvSpPr>
          <p:cNvPr id="138" name="Google Shape;138;p16"/>
          <p:cNvSpPr/>
          <p:nvPr/>
        </p:nvSpPr>
        <p:spPr>
          <a:xfrm>
            <a:off x="937617" y="3788569"/>
            <a:ext cx="6049804" cy="650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600"/>
              <a:buFont typeface="Sora"/>
              <a:buNone/>
            </a:pPr>
            <a:r>
              <a:rPr lang="en-US" sz="16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Доступны пользователям с ролью "admin", позволяя редактировать места и экскурсии прямо с телефона.</a:t>
            </a:r>
            <a:endParaRPr sz="1600" b="0" i="0" u="none" strike="noStrike" cap="none"/>
          </a:p>
        </p:txBody>
      </p:sp>
      <p:sp>
        <p:nvSpPr>
          <p:cNvPr id="139" name="Google Shape;139;p16"/>
          <p:cNvSpPr/>
          <p:nvPr/>
        </p:nvSpPr>
        <p:spPr>
          <a:xfrm>
            <a:off x="7416760" y="2824163"/>
            <a:ext cx="6502122" cy="2165985"/>
          </a:xfrm>
          <a:prstGeom prst="roundRect">
            <a:avLst>
              <a:gd name="adj" fmla="val 506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416760" y="2801303"/>
            <a:ext cx="6502122" cy="91440"/>
          </a:xfrm>
          <a:prstGeom prst="roundRect">
            <a:avLst>
              <a:gd name="adj" fmla="val 93378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10362843" y="2519243"/>
            <a:ext cx="609838" cy="609838"/>
          </a:xfrm>
          <a:prstGeom prst="roundRect">
            <a:avLst>
              <a:gd name="adj" fmla="val 149941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10545842" y="2671643"/>
            <a:ext cx="243840" cy="30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ora"/>
              <a:buNone/>
            </a:pPr>
            <a:r>
              <a:rPr lang="en-US" sz="19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sz="1900" b="0" i="0" u="none" strike="noStrike" cap="none"/>
          </a:p>
        </p:txBody>
      </p:sp>
      <p:sp>
        <p:nvSpPr>
          <p:cNvPr id="143" name="Google Shape;143;p16"/>
          <p:cNvSpPr/>
          <p:nvPr/>
        </p:nvSpPr>
        <p:spPr>
          <a:xfrm>
            <a:off x="7642860" y="3332321"/>
            <a:ext cx="2879527" cy="33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100"/>
              <a:buFont typeface="Sora"/>
              <a:buNone/>
            </a:pPr>
            <a:r>
              <a:rPr lang="en-US" sz="21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Редактирование Мест</a:t>
            </a:r>
            <a:endParaRPr sz="2100" b="0" i="0" u="none" strike="noStrike" cap="none"/>
          </a:p>
        </p:txBody>
      </p:sp>
      <p:sp>
        <p:nvSpPr>
          <p:cNvPr id="144" name="Google Shape;144;p16"/>
          <p:cNvSpPr/>
          <p:nvPr/>
        </p:nvSpPr>
        <p:spPr>
          <a:xfrm>
            <a:off x="7642860" y="3788569"/>
            <a:ext cx="6049923" cy="97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600"/>
              <a:buFont typeface="Sora"/>
              <a:buNone/>
            </a:pPr>
            <a:r>
              <a:rPr lang="en-US" sz="16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Включает поля для названия, описания, адреса, категории, цены и фотографий. Поддерживаются локальные пути и URL-ссылки для изображений.</a:t>
            </a:r>
            <a:endParaRPr sz="1600" b="0" i="0" u="none" strike="noStrike" cap="none"/>
          </a:p>
        </p:txBody>
      </p:sp>
      <p:sp>
        <p:nvSpPr>
          <p:cNvPr id="145" name="Google Shape;145;p16"/>
          <p:cNvSpPr/>
          <p:nvPr/>
        </p:nvSpPr>
        <p:spPr>
          <a:xfrm>
            <a:off x="711518" y="5498306"/>
            <a:ext cx="6502003" cy="2165985"/>
          </a:xfrm>
          <a:prstGeom prst="roundRect">
            <a:avLst>
              <a:gd name="adj" fmla="val 506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711518" y="5475446"/>
            <a:ext cx="6502003" cy="91440"/>
          </a:xfrm>
          <a:prstGeom prst="roundRect">
            <a:avLst>
              <a:gd name="adj" fmla="val 93378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3657600" y="5193387"/>
            <a:ext cx="609838" cy="609838"/>
          </a:xfrm>
          <a:prstGeom prst="roundRect">
            <a:avLst>
              <a:gd name="adj" fmla="val 149941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3840599" y="5345787"/>
            <a:ext cx="243840" cy="30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ora"/>
              <a:buNone/>
            </a:pPr>
            <a:r>
              <a:rPr lang="en-US" sz="19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sz="1900" b="0" i="0" u="none" strike="noStrike" cap="none"/>
          </a:p>
        </p:txBody>
      </p:sp>
      <p:sp>
        <p:nvSpPr>
          <p:cNvPr id="149" name="Google Shape;149;p16"/>
          <p:cNvSpPr/>
          <p:nvPr/>
        </p:nvSpPr>
        <p:spPr>
          <a:xfrm>
            <a:off x="937617" y="6006465"/>
            <a:ext cx="3617595" cy="33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100"/>
              <a:buFont typeface="Sora"/>
              <a:buNone/>
            </a:pPr>
            <a:r>
              <a:rPr lang="en-US" sz="21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Редактирование Экскурсий</a:t>
            </a:r>
            <a:endParaRPr sz="2100" b="0" i="0" u="none" strike="noStrike" cap="none"/>
          </a:p>
        </p:txBody>
      </p:sp>
      <p:sp>
        <p:nvSpPr>
          <p:cNvPr id="150" name="Google Shape;150;p16"/>
          <p:cNvSpPr/>
          <p:nvPr/>
        </p:nvSpPr>
        <p:spPr>
          <a:xfrm>
            <a:off x="937617" y="6462713"/>
            <a:ext cx="6049804" cy="97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600"/>
              <a:buFont typeface="Sora"/>
              <a:buNone/>
            </a:pPr>
            <a:r>
              <a:rPr lang="en-US" sz="16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Позволяет настроить общую информацию по маршруту, управлять списком точек (tour_points) и выбирать обложку для каждой экскурсии.</a:t>
            </a:r>
            <a:endParaRPr sz="1600" b="0" i="0" u="none" strike="noStrike" cap="none"/>
          </a:p>
        </p:txBody>
      </p:sp>
      <p:sp>
        <p:nvSpPr>
          <p:cNvPr id="151" name="Google Shape;151;p16"/>
          <p:cNvSpPr/>
          <p:nvPr/>
        </p:nvSpPr>
        <p:spPr>
          <a:xfrm>
            <a:off x="7416760" y="5498306"/>
            <a:ext cx="6502122" cy="2165985"/>
          </a:xfrm>
          <a:prstGeom prst="roundRect">
            <a:avLst>
              <a:gd name="adj" fmla="val 506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7416760" y="5475446"/>
            <a:ext cx="6502122" cy="91440"/>
          </a:xfrm>
          <a:prstGeom prst="roundRect">
            <a:avLst>
              <a:gd name="adj" fmla="val 93378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10362843" y="5193387"/>
            <a:ext cx="609838" cy="609838"/>
          </a:xfrm>
          <a:prstGeom prst="roundRect">
            <a:avLst>
              <a:gd name="adj" fmla="val 149941"/>
            </a:avLst>
          </a:prstGeom>
          <a:solidFill>
            <a:srgbClr val="DA1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10545842" y="5345787"/>
            <a:ext cx="243840" cy="30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ora"/>
              <a:buNone/>
            </a:pPr>
            <a:r>
              <a:rPr lang="en-US" sz="19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4</a:t>
            </a:r>
            <a:endParaRPr sz="1900" b="0" i="0" u="none" strike="noStrike" cap="none"/>
          </a:p>
        </p:txBody>
      </p:sp>
      <p:sp>
        <p:nvSpPr>
          <p:cNvPr id="155" name="Google Shape;155;p16"/>
          <p:cNvSpPr/>
          <p:nvPr/>
        </p:nvSpPr>
        <p:spPr>
          <a:xfrm>
            <a:off x="7642860" y="6006465"/>
            <a:ext cx="2929890" cy="33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100"/>
              <a:buFont typeface="Sora"/>
              <a:buNone/>
            </a:pPr>
            <a:r>
              <a:rPr lang="en-US" sz="21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Особенности Android</a:t>
            </a:r>
            <a:endParaRPr sz="2100" b="0" i="0" u="none" strike="noStrike" cap="none"/>
          </a:p>
        </p:txBody>
      </p:sp>
      <p:sp>
        <p:nvSpPr>
          <p:cNvPr id="156" name="Google Shape;156;p16"/>
          <p:cNvSpPr/>
          <p:nvPr/>
        </p:nvSpPr>
        <p:spPr>
          <a:xfrm>
            <a:off x="7642860" y="6462713"/>
            <a:ext cx="6049923" cy="97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600"/>
              <a:buFont typeface="Sora"/>
              <a:buNone/>
            </a:pPr>
            <a:r>
              <a:rPr lang="en-US" sz="16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Использование MDFileManager для удобного выбора файлов и учет ограничений доступа к хранилищу (scoped storage) для безопасности данных.</a:t>
            </a:r>
            <a:endParaRPr sz="1600" b="0" i="0" u="none" strike="noStrike" cap="none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AA6DB9-5138-3A42-9E62-CA2D21B02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043" y="7680816"/>
            <a:ext cx="3061170" cy="5042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/>
          <p:nvPr/>
        </p:nvSpPr>
        <p:spPr>
          <a:xfrm>
            <a:off x="758309" y="691039"/>
            <a:ext cx="12757666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Преимущества и Уникальность CityCompass</a:t>
            </a:r>
            <a:endParaRPr sz="4450" b="0" i="0" u="none" strike="noStrike" cap="none"/>
          </a:p>
        </p:txBody>
      </p:sp>
      <p:sp>
        <p:nvSpPr>
          <p:cNvPr id="163" name="Google Shape;163;p17"/>
          <p:cNvSpPr/>
          <p:nvPr/>
        </p:nvSpPr>
        <p:spPr>
          <a:xfrm>
            <a:off x="758309" y="1837015"/>
            <a:ext cx="13113782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CityCompass выделяется на фоне других гидов благодаря своей функциональности и гибкости, предлагая значительные преимущества как пользователям, так и администраторам.</a:t>
            </a:r>
            <a:endParaRPr sz="1700" b="0" i="0" u="none" strike="noStrike" cap="none"/>
          </a:p>
        </p:txBody>
      </p:sp>
      <p:sp>
        <p:nvSpPr>
          <p:cNvPr id="164" name="Google Shape;164;p17"/>
          <p:cNvSpPr/>
          <p:nvPr/>
        </p:nvSpPr>
        <p:spPr>
          <a:xfrm>
            <a:off x="1736288" y="4046458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Для Пользователя</a:t>
            </a:r>
            <a:endParaRPr sz="2200" b="0" i="0" u="none" strike="noStrike" cap="none"/>
          </a:p>
        </p:txBody>
      </p:sp>
      <p:sp>
        <p:nvSpPr>
          <p:cNvPr id="165" name="Google Shape;165;p17"/>
          <p:cNvSpPr/>
          <p:nvPr/>
        </p:nvSpPr>
        <p:spPr>
          <a:xfrm>
            <a:off x="758309" y="4532590"/>
            <a:ext cx="3828693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Быстрый доступ к подборке мест и маршрутов, офлайн-хранение данных, удобные фильтры и функция "Избранное" для персонализации опыта.</a:t>
            </a:r>
            <a:endParaRPr sz="1700" b="0" i="0" u="none" strike="noStrike" cap="none"/>
          </a:p>
        </p:txBody>
      </p:sp>
      <p:pic>
        <p:nvPicPr>
          <p:cNvPr id="166" name="Google Shape;16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0270" y="2861429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0926" y="5003780"/>
            <a:ext cx="304681" cy="30468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/>
          <p:nvPr/>
        </p:nvSpPr>
        <p:spPr>
          <a:xfrm>
            <a:off x="9610011" y="2774156"/>
            <a:ext cx="2962989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Для Администратора</a:t>
            </a:r>
            <a:endParaRPr sz="2200" b="0" i="0" u="none" strike="noStrike" cap="none"/>
          </a:p>
        </p:txBody>
      </p:sp>
      <p:sp>
        <p:nvSpPr>
          <p:cNvPr id="169" name="Google Shape;169;p17"/>
          <p:cNvSpPr/>
          <p:nvPr/>
        </p:nvSpPr>
        <p:spPr>
          <a:xfrm>
            <a:off x="9610011" y="3260288"/>
            <a:ext cx="4262080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Возможность обновлять контент прямо с телефона, добавлять собственные фото и гибко настраивать информацию через админку и JSON-файлы.</a:t>
            </a:r>
            <a:endParaRPr sz="1700" b="0" i="0" u="none" strike="noStrike" cap="none"/>
          </a:p>
        </p:txBody>
      </p:sp>
      <p:pic>
        <p:nvPicPr>
          <p:cNvPr id="170" name="Google Shape;170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0270" y="2861429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53648" y="3980319"/>
            <a:ext cx="304681" cy="30468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9610011" y="5318760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Технические Плюсы</a:t>
            </a:r>
            <a:endParaRPr sz="2200" b="0" i="0" u="none" strike="noStrike" cap="none"/>
          </a:p>
        </p:txBody>
      </p:sp>
      <p:sp>
        <p:nvSpPr>
          <p:cNvPr id="173" name="Google Shape;173;p17"/>
          <p:cNvSpPr/>
          <p:nvPr/>
        </p:nvSpPr>
        <p:spPr>
          <a:xfrm>
            <a:off x="9610011" y="5804892"/>
            <a:ext cx="4262080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Кроссплатформенная логика на Python, открытая архитектура, позволяющая легко дополнять приложение новыми городами, местами и турами.</a:t>
            </a:r>
            <a:endParaRPr sz="1700" b="0" i="0" u="none" strike="noStrike" cap="none"/>
          </a:p>
        </p:txBody>
      </p:sp>
      <p:pic>
        <p:nvPicPr>
          <p:cNvPr id="174" name="Google Shape;174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20270" y="2861429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53648" y="6027241"/>
            <a:ext cx="304681" cy="30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3D0543-5E2B-25A1-FECE-071B0793BC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96988" y="7695841"/>
            <a:ext cx="2491371" cy="4104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Microsoft Office PowerPoint</Application>
  <PresentationFormat>Произвольный</PresentationFormat>
  <Paragraphs>67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Sora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MSI</dc:creator>
  <cp:lastModifiedBy>sashamamin12332@mail.ru</cp:lastModifiedBy>
  <cp:revision>1</cp:revision>
  <dcterms:modified xsi:type="dcterms:W3CDTF">2025-12-19T07:31:38Z</dcterms:modified>
</cp:coreProperties>
</file>